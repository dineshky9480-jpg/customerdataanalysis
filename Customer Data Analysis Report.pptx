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9" r:id="rId1"/>
  </p:sldMasterIdLst>
  <p:sldIdLst>
    <p:sldId id="274" r:id="rId2"/>
    <p:sldId id="276" r:id="rId3"/>
    <p:sldId id="257" r:id="rId4"/>
    <p:sldId id="277" r:id="rId5"/>
    <p:sldId id="259" r:id="rId6"/>
    <p:sldId id="260" r:id="rId7"/>
    <p:sldId id="261" r:id="rId8"/>
    <p:sldId id="262" r:id="rId9"/>
    <p:sldId id="263" r:id="rId10"/>
    <p:sldId id="265" r:id="rId11"/>
    <p:sldId id="264" r:id="rId12"/>
    <p:sldId id="266" r:id="rId13"/>
    <p:sldId id="267" r:id="rId14"/>
    <p:sldId id="269" r:id="rId15"/>
    <p:sldId id="275"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9" d="100"/>
          <a:sy n="79" d="100"/>
        </p:scale>
        <p:origin x="86" y="3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B190965-4CE0-4F06-BD09-C69A194576F2}"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78C5305D-C3F6-4D33-8DF5-D57DD384C36F}" type="slidenum">
              <a:rPr lang="en-IN" smtClean="0"/>
              <a:t>‹#›</a:t>
            </a:fld>
            <a:endParaRPr lang="en-IN"/>
          </a:p>
        </p:txBody>
      </p:sp>
    </p:spTree>
    <p:extLst>
      <p:ext uri="{BB962C8B-B14F-4D97-AF65-F5344CB8AC3E}">
        <p14:creationId xmlns:p14="http://schemas.microsoft.com/office/powerpoint/2010/main" val="1378791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190965-4CE0-4F06-BD09-C69A194576F2}"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C5305D-C3F6-4D33-8DF5-D57DD384C36F}" type="slidenum">
              <a:rPr lang="en-IN" smtClean="0"/>
              <a:t>‹#›</a:t>
            </a:fld>
            <a:endParaRPr lang="en-IN"/>
          </a:p>
        </p:txBody>
      </p:sp>
    </p:spTree>
    <p:extLst>
      <p:ext uri="{BB962C8B-B14F-4D97-AF65-F5344CB8AC3E}">
        <p14:creationId xmlns:p14="http://schemas.microsoft.com/office/powerpoint/2010/main" val="279982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DB190965-4CE0-4F06-BD09-C69A194576F2}" type="datetimeFigureOut">
              <a:rPr lang="en-IN" smtClean="0"/>
              <a:t>11-12-2025</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78C5305D-C3F6-4D33-8DF5-D57DD384C36F}" type="slidenum">
              <a:rPr lang="en-IN" smtClean="0"/>
              <a:t>‹#›</a:t>
            </a:fld>
            <a:endParaRPr lang="en-IN"/>
          </a:p>
        </p:txBody>
      </p:sp>
    </p:spTree>
    <p:extLst>
      <p:ext uri="{BB962C8B-B14F-4D97-AF65-F5344CB8AC3E}">
        <p14:creationId xmlns:p14="http://schemas.microsoft.com/office/powerpoint/2010/main" val="1240920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190965-4CE0-4F06-BD09-C69A194576F2}"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8C5305D-C3F6-4D33-8DF5-D57DD384C36F}" type="slidenum">
              <a:rPr lang="en-IN" smtClean="0"/>
              <a:t>‹#›</a:t>
            </a:fld>
            <a:endParaRPr lang="en-IN"/>
          </a:p>
        </p:txBody>
      </p:sp>
    </p:spTree>
    <p:extLst>
      <p:ext uri="{BB962C8B-B14F-4D97-AF65-F5344CB8AC3E}">
        <p14:creationId xmlns:p14="http://schemas.microsoft.com/office/powerpoint/2010/main" val="207627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B190965-4CE0-4F06-BD09-C69A194576F2}" type="datetimeFigureOut">
              <a:rPr lang="en-IN" smtClean="0"/>
              <a:t>11-12-2025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8C5305D-C3F6-4D33-8DF5-D57DD384C36F}" type="slidenum">
              <a:rPr lang="en-IN" smtClean="0"/>
              <a:t>‹#›</a:t>
            </a:fld>
            <a:endParaRPr lang="en-IN"/>
          </a:p>
        </p:txBody>
      </p:sp>
    </p:spTree>
    <p:extLst>
      <p:ext uri="{BB962C8B-B14F-4D97-AF65-F5344CB8AC3E}">
        <p14:creationId xmlns:p14="http://schemas.microsoft.com/office/powerpoint/2010/main" val="1314064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190965-4CE0-4F06-BD09-C69A194576F2}" type="datetimeFigureOut">
              <a:rPr lang="en-IN" smtClean="0"/>
              <a:t>11-12-2025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8C5305D-C3F6-4D33-8DF5-D57DD384C36F}" type="slidenum">
              <a:rPr lang="en-IN" smtClean="0"/>
              <a:t>‹#›</a:t>
            </a:fld>
            <a:endParaRPr lang="en-IN"/>
          </a:p>
        </p:txBody>
      </p:sp>
    </p:spTree>
    <p:extLst>
      <p:ext uri="{BB962C8B-B14F-4D97-AF65-F5344CB8AC3E}">
        <p14:creationId xmlns:p14="http://schemas.microsoft.com/office/powerpoint/2010/main" val="2756387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190965-4CE0-4F06-BD09-C69A194576F2}" type="datetimeFigureOut">
              <a:rPr lang="en-IN" smtClean="0"/>
              <a:t>11-12-2025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8C5305D-C3F6-4D33-8DF5-D57DD384C36F}" type="slidenum">
              <a:rPr lang="en-IN" smtClean="0"/>
              <a:t>‹#›</a:t>
            </a:fld>
            <a:endParaRPr lang="en-IN"/>
          </a:p>
        </p:txBody>
      </p:sp>
    </p:spTree>
    <p:extLst>
      <p:ext uri="{BB962C8B-B14F-4D97-AF65-F5344CB8AC3E}">
        <p14:creationId xmlns:p14="http://schemas.microsoft.com/office/powerpoint/2010/main" val="1754650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190965-4CE0-4F06-BD09-C69A194576F2}"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8C5305D-C3F6-4D33-8DF5-D57DD384C36F}" type="slidenum">
              <a:rPr lang="en-IN" smtClean="0"/>
              <a:t>‹#›</a:t>
            </a:fld>
            <a:endParaRPr lang="en-IN"/>
          </a:p>
        </p:txBody>
      </p:sp>
    </p:spTree>
    <p:extLst>
      <p:ext uri="{BB962C8B-B14F-4D97-AF65-F5344CB8AC3E}">
        <p14:creationId xmlns:p14="http://schemas.microsoft.com/office/powerpoint/2010/main" val="2293566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190965-4CE0-4F06-BD09-C69A194576F2}" type="datetimeFigureOut">
              <a:rPr lang="en-IN" smtClean="0"/>
              <a:t>11-12-2025</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8C5305D-C3F6-4D33-8DF5-D57DD384C36F}" type="slidenum">
              <a:rPr lang="en-IN" smtClean="0"/>
              <a:t>‹#›</a:t>
            </a:fld>
            <a:endParaRPr lang="en-IN"/>
          </a:p>
        </p:txBody>
      </p:sp>
    </p:spTree>
    <p:extLst>
      <p:ext uri="{BB962C8B-B14F-4D97-AF65-F5344CB8AC3E}">
        <p14:creationId xmlns:p14="http://schemas.microsoft.com/office/powerpoint/2010/main" val="4099838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190965-4CE0-4F06-BD09-C69A194576F2}"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C5305D-C3F6-4D33-8DF5-D57DD384C36F}" type="slidenum">
              <a:rPr lang="en-IN" smtClean="0"/>
              <a:t>‹#›</a:t>
            </a:fld>
            <a:endParaRPr lang="en-IN"/>
          </a:p>
        </p:txBody>
      </p:sp>
    </p:spTree>
    <p:extLst>
      <p:ext uri="{BB962C8B-B14F-4D97-AF65-F5344CB8AC3E}">
        <p14:creationId xmlns:p14="http://schemas.microsoft.com/office/powerpoint/2010/main" val="4210676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190965-4CE0-4F06-BD09-C69A194576F2}"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8C5305D-C3F6-4D33-8DF5-D57DD384C36F}" type="slidenum">
              <a:rPr lang="en-IN" smtClean="0"/>
              <a:t>‹#›</a:t>
            </a:fld>
            <a:endParaRPr lang="en-IN"/>
          </a:p>
        </p:txBody>
      </p:sp>
    </p:spTree>
    <p:extLst>
      <p:ext uri="{BB962C8B-B14F-4D97-AF65-F5344CB8AC3E}">
        <p14:creationId xmlns:p14="http://schemas.microsoft.com/office/powerpoint/2010/main" val="615776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B190965-4CE0-4F06-BD09-C69A194576F2}" type="datetimeFigureOut">
              <a:rPr lang="en-IN" smtClean="0"/>
              <a:t>11-12-2025</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78C5305D-C3F6-4D33-8DF5-D57DD384C36F}" type="slidenum">
              <a:rPr lang="en-IN" smtClean="0"/>
              <a:t>‹#›</a:t>
            </a:fld>
            <a:endParaRPr lang="en-IN"/>
          </a:p>
        </p:txBody>
      </p:sp>
    </p:spTree>
    <p:extLst>
      <p:ext uri="{BB962C8B-B14F-4D97-AF65-F5344CB8AC3E}">
        <p14:creationId xmlns:p14="http://schemas.microsoft.com/office/powerpoint/2010/main" val="1715537187"/>
      </p:ext>
    </p:extLst>
  </p:cSld>
  <p:clrMap bg1="lt1" tx1="dk1" bg2="lt2" tx2="dk2" accent1="accent1" accent2="accent2" accent3="accent3" accent4="accent4" accent5="accent5" accent6="accent6" hlink="hlink" folHlink="folHlink"/>
  <p:sldLayoutIdLst>
    <p:sldLayoutId id="2147484080" r:id="rId1"/>
    <p:sldLayoutId id="2147484081" r:id="rId2"/>
    <p:sldLayoutId id="2147484082" r:id="rId3"/>
    <p:sldLayoutId id="2147484083" r:id="rId4"/>
    <p:sldLayoutId id="2147484084" r:id="rId5"/>
    <p:sldLayoutId id="2147484085" r:id="rId6"/>
    <p:sldLayoutId id="2147484086" r:id="rId7"/>
    <p:sldLayoutId id="2147484087" r:id="rId8"/>
    <p:sldLayoutId id="2147484088" r:id="rId9"/>
    <p:sldLayoutId id="2147484089" r:id="rId10"/>
    <p:sldLayoutId id="2147484090"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CA4BA-33DB-65DB-8857-91AF46AC140E}"/>
              </a:ext>
            </a:extLst>
          </p:cNvPr>
          <p:cNvSpPr>
            <a:spLocks noGrp="1"/>
          </p:cNvSpPr>
          <p:nvPr>
            <p:ph type="ctrTitle"/>
          </p:nvPr>
        </p:nvSpPr>
        <p:spPr>
          <a:xfrm>
            <a:off x="753534" y="516468"/>
            <a:ext cx="10871199" cy="1938865"/>
          </a:xfrm>
        </p:spPr>
        <p:txBody>
          <a:bodyPr/>
          <a:lstStyle/>
          <a:p>
            <a:r>
              <a:rPr lang="en-IN" sz="5400" b="1" dirty="0">
                <a:latin typeface="Calibri" panose="020F0502020204030204" pitchFamily="34" charset="0"/>
                <a:ea typeface="Calibri" panose="020F0502020204030204" pitchFamily="34" charset="0"/>
                <a:cs typeface="Calibri" panose="020F0502020204030204" pitchFamily="34" charset="0"/>
              </a:rPr>
              <a:t>Customer Data Analysis</a:t>
            </a:r>
          </a:p>
        </p:txBody>
      </p:sp>
      <p:sp>
        <p:nvSpPr>
          <p:cNvPr id="3" name="Subtitle 2">
            <a:extLst>
              <a:ext uri="{FF2B5EF4-FFF2-40B4-BE49-F238E27FC236}">
                <a16:creationId xmlns:a16="http://schemas.microsoft.com/office/drawing/2014/main" id="{F60C9D43-132E-CAD3-662E-DF86B0D30117}"/>
              </a:ext>
            </a:extLst>
          </p:cNvPr>
          <p:cNvSpPr>
            <a:spLocks noGrp="1"/>
          </p:cNvSpPr>
          <p:nvPr>
            <p:ph type="subTitle" idx="1"/>
          </p:nvPr>
        </p:nvSpPr>
        <p:spPr>
          <a:xfrm>
            <a:off x="1156146" y="3318933"/>
            <a:ext cx="8626642" cy="2810933"/>
          </a:xfrm>
        </p:spPr>
        <p:txBody>
          <a:bodyPr>
            <a:noAutofit/>
          </a:bodyPr>
          <a:lstStyle/>
          <a:p>
            <a:r>
              <a:rPr lang="en-US" sz="1600" b="1" dirty="0">
                <a:solidFill>
                  <a:schemeClr val="tx1"/>
                </a:solidFill>
              </a:rPr>
              <a:t>Prepared by:</a:t>
            </a:r>
            <a:r>
              <a:rPr lang="en-US" sz="1600" dirty="0">
                <a:solidFill>
                  <a:schemeClr val="tx1"/>
                </a:solidFill>
              </a:rPr>
              <a:t> Dinesha K Y</a:t>
            </a:r>
          </a:p>
          <a:p>
            <a:r>
              <a:rPr lang="en-US" sz="1600" b="1" dirty="0">
                <a:solidFill>
                  <a:schemeClr val="tx1"/>
                </a:solidFill>
              </a:rPr>
              <a:t>Course</a:t>
            </a:r>
            <a:r>
              <a:rPr lang="en-US" sz="1600" dirty="0">
                <a:solidFill>
                  <a:schemeClr val="tx1"/>
                </a:solidFill>
              </a:rPr>
              <a:t>: Certified data analyst</a:t>
            </a:r>
          </a:p>
          <a:p>
            <a:r>
              <a:rPr lang="en-US" sz="1600" b="1" dirty="0">
                <a:solidFill>
                  <a:schemeClr val="tx1"/>
                </a:solidFill>
              </a:rPr>
              <a:t>Batch id: 11-aug-25-cda-bun-040-wdm1130-ban</a:t>
            </a:r>
            <a:endParaRPr lang="en-US" sz="1600" dirty="0">
              <a:solidFill>
                <a:schemeClr val="tx1"/>
              </a:solidFill>
            </a:endParaRPr>
          </a:p>
          <a:p>
            <a:r>
              <a:rPr lang="en-US" sz="1600" b="1" dirty="0">
                <a:solidFill>
                  <a:schemeClr val="tx1"/>
                </a:solidFill>
              </a:rPr>
              <a:t>Tools Used:</a:t>
            </a:r>
            <a:r>
              <a:rPr lang="en-US" sz="1600" dirty="0">
                <a:solidFill>
                  <a:schemeClr val="tx1"/>
                </a:solidFill>
              </a:rPr>
              <a:t> Power BI, Excel, My</a:t>
            </a:r>
            <a:r>
              <a:rPr lang="en-US" sz="1600" dirty="0"/>
              <a:t>SQL</a:t>
            </a:r>
            <a:endParaRPr lang="en-US" sz="1600" dirty="0">
              <a:solidFill>
                <a:schemeClr val="tx1"/>
              </a:solidFill>
            </a:endParaRPr>
          </a:p>
          <a:p>
            <a:r>
              <a:rPr lang="en-US" sz="1600" b="1" dirty="0">
                <a:solidFill>
                  <a:schemeClr val="tx1"/>
                </a:solidFill>
              </a:rPr>
              <a:t>Dataset:</a:t>
            </a:r>
            <a:r>
              <a:rPr lang="en-US" sz="1600" dirty="0">
                <a:solidFill>
                  <a:schemeClr val="tx1"/>
                </a:solidFill>
              </a:rPr>
              <a:t> 1000 Customer Transactions (2021–2023)</a:t>
            </a:r>
          </a:p>
          <a:p>
            <a:r>
              <a:rPr lang="en-US" sz="1600" b="1" dirty="0">
                <a:solidFill>
                  <a:schemeClr val="tx1"/>
                </a:solidFill>
              </a:rPr>
              <a:t>Dashboards:</a:t>
            </a:r>
            <a:r>
              <a:rPr lang="en-US" sz="1600" dirty="0">
                <a:solidFill>
                  <a:schemeClr val="tx1"/>
                </a:solidFill>
              </a:rPr>
              <a:t> Executive Summary, Gender Analysis, Age Group Analysis, Category &amp; Payment Method Analysis</a:t>
            </a:r>
          </a:p>
          <a:p>
            <a:r>
              <a:rPr lang="en-US" sz="1600" b="1" dirty="0">
                <a:ea typeface="Calibri" panose="020F0502020204030204" pitchFamily="34" charset="0"/>
                <a:cs typeface="Calibri" panose="020F0502020204030204" pitchFamily="34" charset="0"/>
              </a:rPr>
              <a:t>Mentor: </a:t>
            </a:r>
            <a:r>
              <a:rPr lang="en-US" sz="1600" dirty="0" err="1">
                <a:ea typeface="Calibri" panose="020F0502020204030204" pitchFamily="34" charset="0"/>
                <a:cs typeface="Calibri" panose="020F0502020204030204" pitchFamily="34" charset="0"/>
              </a:rPr>
              <a:t>Datamites</a:t>
            </a:r>
            <a:endParaRPr lang="en-IN" sz="1600" dirty="0">
              <a:solidFill>
                <a:schemeClr val="tx1"/>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18475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ECEEA-1EAE-9DBE-41FE-8BFA84CC19DE}"/>
              </a:ext>
            </a:extLst>
          </p:cNvPr>
          <p:cNvSpPr>
            <a:spLocks noGrp="1"/>
          </p:cNvSpPr>
          <p:nvPr>
            <p:ph type="title"/>
          </p:nvPr>
        </p:nvSpPr>
        <p:spPr>
          <a:xfrm>
            <a:off x="677333" y="1715347"/>
            <a:ext cx="9059334" cy="45719"/>
          </a:xfrm>
        </p:spPr>
        <p:txBody>
          <a:bodyPr>
            <a:noAutofit/>
          </a:bodyPr>
          <a:lstStyle/>
          <a:p>
            <a:r>
              <a:rPr lang="en-US" sz="44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br>
              <a:rPr lang="en-US" sz="4400" b="1"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4400" b="1"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4400" b="1" dirty="0">
                <a:solidFill>
                  <a:schemeClr val="tx1"/>
                </a:solidFill>
                <a:latin typeface="Calibri" panose="020F0502020204030204" pitchFamily="34" charset="0"/>
                <a:ea typeface="Calibri" panose="020F0502020204030204" pitchFamily="34" charset="0"/>
                <a:cs typeface="Calibri" panose="020F0502020204030204" pitchFamily="34" charset="0"/>
              </a:rPr>
              <a:t> Introduction</a:t>
            </a:r>
            <a:br>
              <a:rPr lang="en-US" sz="4400" b="1" dirty="0"/>
            </a:br>
            <a:endParaRPr lang="en-IN" sz="4400" dirty="0"/>
          </a:p>
        </p:txBody>
      </p:sp>
      <p:sp>
        <p:nvSpPr>
          <p:cNvPr id="3" name="Content Placeholder 2">
            <a:extLst>
              <a:ext uri="{FF2B5EF4-FFF2-40B4-BE49-F238E27FC236}">
                <a16:creationId xmlns:a16="http://schemas.microsoft.com/office/drawing/2014/main" id="{77708DCC-F72E-F346-0A2E-50FF764F44F8}"/>
              </a:ext>
            </a:extLst>
          </p:cNvPr>
          <p:cNvSpPr>
            <a:spLocks noGrp="1"/>
          </p:cNvSpPr>
          <p:nvPr>
            <p:ph idx="1"/>
          </p:nvPr>
        </p:nvSpPr>
        <p:spPr>
          <a:xfrm>
            <a:off x="798915" y="2807208"/>
            <a:ext cx="10058400" cy="1231392"/>
          </a:xfrm>
        </p:spPr>
        <p:txBody>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This project involves analyzing customer purchase data to understand patterns across gender, age groups, product categories, and payment methods. Using SQL for data extraction and Power BI for visualization, the goal is to generate insights that help in improving customer segmentation, sales strategy, and business decision-making.</a:t>
            </a:r>
          </a:p>
          <a:p>
            <a:pPr marL="0" indent="0">
              <a:buNone/>
            </a:pPr>
            <a:endParaRPr lang="en-IN" dirty="0"/>
          </a:p>
        </p:txBody>
      </p:sp>
    </p:spTree>
    <p:extLst>
      <p:ext uri="{BB962C8B-B14F-4D97-AF65-F5344CB8AC3E}">
        <p14:creationId xmlns:p14="http://schemas.microsoft.com/office/powerpoint/2010/main" val="3532655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4D6E8-A78E-F3AF-4449-21A58510CD73}"/>
              </a:ext>
            </a:extLst>
          </p:cNvPr>
          <p:cNvSpPr>
            <a:spLocks noGrp="1"/>
          </p:cNvSpPr>
          <p:nvPr>
            <p:ph type="title"/>
          </p:nvPr>
        </p:nvSpPr>
        <p:spPr>
          <a:xfrm>
            <a:off x="347133" y="1690513"/>
            <a:ext cx="10515600" cy="753269"/>
          </a:xfrm>
        </p:spPr>
        <p:txBody>
          <a:bodyPr>
            <a:normAutofit/>
          </a:bodyPr>
          <a:lstStyle/>
          <a:p>
            <a:r>
              <a:rPr lang="en-IN" sz="3200" b="1" dirty="0">
                <a:latin typeface="Calibri" panose="020F0502020204030204" pitchFamily="34" charset="0"/>
                <a:ea typeface="Calibri" panose="020F0502020204030204" pitchFamily="34" charset="0"/>
                <a:cs typeface="Calibri" panose="020F0502020204030204" pitchFamily="34" charset="0"/>
              </a:rPr>
              <a:t>PROJECT OBJECTIVE</a:t>
            </a:r>
          </a:p>
        </p:txBody>
      </p:sp>
      <p:sp>
        <p:nvSpPr>
          <p:cNvPr id="4" name="Rectangle 1">
            <a:extLst>
              <a:ext uri="{FF2B5EF4-FFF2-40B4-BE49-F238E27FC236}">
                <a16:creationId xmlns:a16="http://schemas.microsoft.com/office/drawing/2014/main" id="{B1809BB3-2BF5-D8D0-D286-A99EBAA339BA}"/>
              </a:ext>
            </a:extLst>
          </p:cNvPr>
          <p:cNvSpPr>
            <a:spLocks noGrp="1" noChangeArrowheads="1"/>
          </p:cNvSpPr>
          <p:nvPr>
            <p:ph idx="1"/>
          </p:nvPr>
        </p:nvSpPr>
        <p:spPr bwMode="auto">
          <a:xfrm>
            <a:off x="347133" y="2582164"/>
            <a:ext cx="887422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Understand customer purchasing behavior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Identify high-performing product categories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Analyze sales by gender and age group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Study payment method patterns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 actionable insights for business decisions</a:t>
            </a:r>
          </a:p>
        </p:txBody>
      </p:sp>
    </p:spTree>
    <p:extLst>
      <p:ext uri="{BB962C8B-B14F-4D97-AF65-F5344CB8AC3E}">
        <p14:creationId xmlns:p14="http://schemas.microsoft.com/office/powerpoint/2010/main" val="4086480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7FDEB-3D94-AB7E-FC0E-5583E12E03FD}"/>
              </a:ext>
            </a:extLst>
          </p:cNvPr>
          <p:cNvSpPr>
            <a:spLocks noGrp="1"/>
          </p:cNvSpPr>
          <p:nvPr>
            <p:ph type="title"/>
          </p:nvPr>
        </p:nvSpPr>
        <p:spPr>
          <a:xfrm>
            <a:off x="1069848" y="270933"/>
            <a:ext cx="6070600" cy="1388534"/>
          </a:xfrm>
        </p:spPr>
        <p:txBody>
          <a:bodyPr>
            <a:normAutofit fontScale="90000"/>
          </a:bodyPr>
          <a:lstStyle/>
          <a:p>
            <a:r>
              <a:rPr lang="en-IN" b="1" dirty="0">
                <a:latin typeface="Calibri" panose="020F0502020204030204" pitchFamily="34" charset="0"/>
                <a:ea typeface="Calibri" panose="020F0502020204030204" pitchFamily="34" charset="0"/>
                <a:cs typeface="Calibri" panose="020F0502020204030204" pitchFamily="34" charset="0"/>
              </a:rPr>
              <a:t>DATASET OVERVIEW</a:t>
            </a:r>
            <a:br>
              <a:rPr lang="en-IN" b="1" dirty="0">
                <a:latin typeface="Calibri" panose="020F0502020204030204" pitchFamily="34" charset="0"/>
                <a:ea typeface="Calibri" panose="020F0502020204030204" pitchFamily="34" charset="0"/>
                <a:cs typeface="Calibri" panose="020F0502020204030204" pitchFamily="34" charset="0"/>
              </a:rPr>
            </a:br>
            <a:endParaRPr lang="en-IN" dirty="0"/>
          </a:p>
        </p:txBody>
      </p:sp>
      <p:sp>
        <p:nvSpPr>
          <p:cNvPr id="4" name="Content Placeholder 3">
            <a:extLst>
              <a:ext uri="{FF2B5EF4-FFF2-40B4-BE49-F238E27FC236}">
                <a16:creationId xmlns:a16="http://schemas.microsoft.com/office/drawing/2014/main" id="{F44B9A95-815D-3A82-826D-1A2A630BC939}"/>
              </a:ext>
            </a:extLst>
          </p:cNvPr>
          <p:cNvSpPr txBox="1">
            <a:spLocks noGrp="1"/>
          </p:cNvSpPr>
          <p:nvPr>
            <p:ph idx="1"/>
          </p:nvPr>
        </p:nvSpPr>
        <p:spPr>
          <a:xfrm>
            <a:off x="6959600" y="2044700"/>
            <a:ext cx="3539067" cy="329320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Total Records: 1000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Fields Included:</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Invoice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Customer 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Gender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Category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Quantity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Payment Method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Revenue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Timeline:</a:t>
            </a:r>
            <a:r>
              <a:rPr kumimoji="0" lang="en-US" altLang="en-US" sz="1600" b="0" i="0" u="none" strike="noStrike" cap="none" normalizeH="0" baseline="0" dirty="0">
                <a:ln>
                  <a:noFill/>
                </a:ln>
                <a:solidFill>
                  <a:schemeClr val="tx1"/>
                </a:solidFill>
                <a:effectLst/>
                <a:latin typeface="Arial" panose="020B0604020202020204" pitchFamily="34" charset="0"/>
              </a:rPr>
              <a:t> 2021–2023</a:t>
            </a:r>
            <a:endParaRPr lang="en-IN" sz="1600" dirty="0"/>
          </a:p>
        </p:txBody>
      </p:sp>
      <p:sp>
        <p:nvSpPr>
          <p:cNvPr id="5" name="TextBox 4">
            <a:extLst>
              <a:ext uri="{FF2B5EF4-FFF2-40B4-BE49-F238E27FC236}">
                <a16:creationId xmlns:a16="http://schemas.microsoft.com/office/drawing/2014/main" id="{5610E10C-AEF1-2820-DCF3-89B145CEB793}"/>
              </a:ext>
            </a:extLst>
          </p:cNvPr>
          <p:cNvSpPr txBox="1"/>
          <p:nvPr/>
        </p:nvSpPr>
        <p:spPr>
          <a:xfrm>
            <a:off x="330199" y="1659467"/>
            <a:ext cx="6096000"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600" b="1" dirty="0" err="1">
                <a:latin typeface="Arial" panose="020B0604020202020204" pitchFamily="34" charset="0"/>
              </a:rPr>
              <a:t>Sourse</a:t>
            </a:r>
            <a:r>
              <a:rPr lang="en-US" altLang="en-US" sz="1600" b="1" dirty="0">
                <a:latin typeface="Arial" panose="020B0604020202020204" pitchFamily="34" charset="0"/>
              </a:rPr>
              <a:t>: </a:t>
            </a:r>
            <a:r>
              <a:rPr lang="en-US" altLang="en-US" sz="1600" b="1" dirty="0" err="1">
                <a:latin typeface="Arial" panose="020B0604020202020204" pitchFamily="34" charset="0"/>
              </a:rPr>
              <a:t>Datamites</a:t>
            </a:r>
            <a:r>
              <a:rPr lang="en-US" altLang="en-US" sz="1600" b="1" dirty="0">
                <a:latin typeface="Arial" panose="020B0604020202020204" pitchFamily="34" charset="0"/>
              </a:rPr>
              <a:t> Customer Segmentation Database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Table: customer</a:t>
            </a:r>
          </a:p>
        </p:txBody>
      </p:sp>
      <p:sp>
        <p:nvSpPr>
          <p:cNvPr id="7" name="TextBox 6">
            <a:extLst>
              <a:ext uri="{FF2B5EF4-FFF2-40B4-BE49-F238E27FC236}">
                <a16:creationId xmlns:a16="http://schemas.microsoft.com/office/drawing/2014/main" id="{AF4B012E-73B5-1581-B5E1-0CA2CC117C4C}"/>
              </a:ext>
            </a:extLst>
          </p:cNvPr>
          <p:cNvSpPr txBox="1"/>
          <p:nvPr/>
        </p:nvSpPr>
        <p:spPr>
          <a:xfrm>
            <a:off x="7001933" y="1520091"/>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800" b="1" dirty="0">
                <a:latin typeface="Arial" panose="020B0604020202020204" pitchFamily="34" charset="0"/>
              </a:rPr>
              <a:t>Attributes</a:t>
            </a:r>
          </a:p>
        </p:txBody>
      </p:sp>
    </p:spTree>
    <p:extLst>
      <p:ext uri="{BB962C8B-B14F-4D97-AF65-F5344CB8AC3E}">
        <p14:creationId xmlns:p14="http://schemas.microsoft.com/office/powerpoint/2010/main" val="257054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A72A1-4DAD-8986-E90C-4A3186EE2FE1}"/>
              </a:ext>
            </a:extLst>
          </p:cNvPr>
          <p:cNvSpPr>
            <a:spLocks noGrp="1"/>
          </p:cNvSpPr>
          <p:nvPr>
            <p:ph type="title"/>
          </p:nvPr>
        </p:nvSpPr>
        <p:spPr>
          <a:xfrm>
            <a:off x="719667" y="356658"/>
            <a:ext cx="10515600" cy="1325563"/>
          </a:xfrm>
        </p:spPr>
        <p:txBody>
          <a:bodyPr>
            <a:norm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Data Cleaning</a:t>
            </a:r>
          </a:p>
        </p:txBody>
      </p:sp>
      <p:sp>
        <p:nvSpPr>
          <p:cNvPr id="3" name="Content Placeholder 2">
            <a:extLst>
              <a:ext uri="{FF2B5EF4-FFF2-40B4-BE49-F238E27FC236}">
                <a16:creationId xmlns:a16="http://schemas.microsoft.com/office/drawing/2014/main" id="{45DE44BC-5611-D74C-7E60-8AC24DCA90A9}"/>
              </a:ext>
            </a:extLst>
          </p:cNvPr>
          <p:cNvSpPr>
            <a:spLocks noGrp="1"/>
          </p:cNvSpPr>
          <p:nvPr>
            <p:ph idx="1"/>
          </p:nvPr>
        </p:nvSpPr>
        <p:spPr/>
        <p:txBody>
          <a:bodyPr>
            <a:normAutofit/>
          </a:bodyPr>
          <a:lstStyle/>
          <a:p>
            <a:r>
              <a:rPr lang="en-US" dirty="0"/>
              <a:t>Performed in Excel + Power BI + My SQL</a:t>
            </a:r>
          </a:p>
          <a:p>
            <a:r>
              <a:rPr lang="en-US" dirty="0"/>
              <a:t>Removed duplicates</a:t>
            </a:r>
          </a:p>
          <a:p>
            <a:r>
              <a:rPr lang="en-US" dirty="0"/>
              <a:t>Standardized category names</a:t>
            </a:r>
          </a:p>
          <a:p>
            <a:r>
              <a:rPr lang="en-US" dirty="0"/>
              <a:t>Created Age Groups (18–25, 26–35, 36–45, 46–60, 60+)</a:t>
            </a:r>
          </a:p>
          <a:p>
            <a:r>
              <a:rPr lang="en-US" dirty="0"/>
              <a:t>Added measures for:</a:t>
            </a:r>
          </a:p>
          <a:p>
            <a:pPr lvl="1"/>
            <a:r>
              <a:rPr lang="en-US" dirty="0"/>
              <a:t>Total Revenue</a:t>
            </a:r>
          </a:p>
          <a:p>
            <a:pPr lvl="1"/>
            <a:r>
              <a:rPr lang="en-US" dirty="0"/>
              <a:t>Total Orders</a:t>
            </a:r>
          </a:p>
          <a:p>
            <a:pPr lvl="1"/>
            <a:r>
              <a:rPr lang="en-US" dirty="0"/>
              <a:t>Total Quantity</a:t>
            </a:r>
          </a:p>
          <a:p>
            <a:pPr lvl="1"/>
            <a:r>
              <a:rPr lang="en-US" dirty="0"/>
              <a:t>Revenue by Gender / Age / Category</a:t>
            </a:r>
          </a:p>
          <a:p>
            <a:pPr lvl="1"/>
            <a:r>
              <a:rPr lang="en-US" dirty="0"/>
              <a:t>Payment Method %</a:t>
            </a:r>
          </a:p>
          <a:p>
            <a:endParaRPr lang="en-IN" dirty="0"/>
          </a:p>
        </p:txBody>
      </p:sp>
    </p:spTree>
    <p:extLst>
      <p:ext uri="{BB962C8B-B14F-4D97-AF65-F5344CB8AC3E}">
        <p14:creationId xmlns:p14="http://schemas.microsoft.com/office/powerpoint/2010/main" val="4120887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1AB31-BD4E-EFF2-3400-E6DF90D8F8CA}"/>
              </a:ext>
            </a:extLst>
          </p:cNvPr>
          <p:cNvSpPr>
            <a:spLocks noGrp="1"/>
          </p:cNvSpPr>
          <p:nvPr>
            <p:ph type="title"/>
          </p:nvPr>
        </p:nvSpPr>
        <p:spPr>
          <a:xfrm>
            <a:off x="558800" y="356658"/>
            <a:ext cx="10515600" cy="1325563"/>
          </a:xfrm>
        </p:spPr>
        <p:txBody>
          <a:bodyPr>
            <a:norm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Executive Summary (KPIs)</a:t>
            </a:r>
          </a:p>
        </p:txBody>
      </p:sp>
      <p:sp>
        <p:nvSpPr>
          <p:cNvPr id="3" name="Content Placeholder 2">
            <a:extLst>
              <a:ext uri="{FF2B5EF4-FFF2-40B4-BE49-F238E27FC236}">
                <a16:creationId xmlns:a16="http://schemas.microsoft.com/office/drawing/2014/main" id="{695A65D7-EF47-D055-BF3F-399606DE50AD}"/>
              </a:ext>
            </a:extLst>
          </p:cNvPr>
          <p:cNvSpPr>
            <a:spLocks noGrp="1"/>
          </p:cNvSpPr>
          <p:nvPr>
            <p:ph idx="1"/>
          </p:nvPr>
        </p:nvSpPr>
        <p:spPr>
          <a:xfrm>
            <a:off x="645131" y="1951319"/>
            <a:ext cx="4206270" cy="2756148"/>
          </a:xfrm>
        </p:spPr>
        <p:txBody>
          <a:bodyPr>
            <a:normAutofit/>
          </a:bodyPr>
          <a:lstStyle/>
          <a:p>
            <a:r>
              <a:rPr lang="en-US" dirty="0"/>
              <a:t>From Dashboard 1</a:t>
            </a:r>
          </a:p>
          <a:p>
            <a:r>
              <a:rPr lang="en-US" b="1" dirty="0"/>
              <a:t>Total Revenue:</a:t>
            </a:r>
            <a:r>
              <a:rPr lang="en-US" dirty="0"/>
              <a:t> 2.37M</a:t>
            </a:r>
          </a:p>
          <a:p>
            <a:r>
              <a:rPr lang="en-US" b="1" dirty="0"/>
              <a:t>Total Orders:</a:t>
            </a:r>
            <a:r>
              <a:rPr lang="en-US" dirty="0"/>
              <a:t> 1000</a:t>
            </a:r>
          </a:p>
          <a:p>
            <a:r>
              <a:rPr lang="en-US" b="1" dirty="0"/>
              <a:t>Total Quantity:</a:t>
            </a:r>
            <a:r>
              <a:rPr lang="en-US" dirty="0"/>
              <a:t> 2.98K</a:t>
            </a:r>
          </a:p>
          <a:p>
            <a:r>
              <a:rPr lang="en-US" b="1" dirty="0"/>
              <a:t>Total Customers:</a:t>
            </a:r>
            <a:r>
              <a:rPr lang="en-US" dirty="0"/>
              <a:t> 1000</a:t>
            </a:r>
          </a:p>
          <a:p>
            <a:r>
              <a:rPr lang="en-US" b="1" dirty="0"/>
              <a:t>Average Order Value:</a:t>
            </a:r>
            <a:r>
              <a:rPr lang="en-US" dirty="0"/>
              <a:t> 2.37K</a:t>
            </a:r>
          </a:p>
          <a:p>
            <a:endParaRPr lang="en-IN" dirty="0"/>
          </a:p>
        </p:txBody>
      </p:sp>
    </p:spTree>
    <p:extLst>
      <p:ext uri="{BB962C8B-B14F-4D97-AF65-F5344CB8AC3E}">
        <p14:creationId xmlns:p14="http://schemas.microsoft.com/office/powerpoint/2010/main" val="2701564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62D78-7515-8D85-228F-5BEDF309C5C2}"/>
              </a:ext>
            </a:extLst>
          </p:cNvPr>
          <p:cNvSpPr>
            <a:spLocks noGrp="1"/>
          </p:cNvSpPr>
          <p:nvPr>
            <p:ph type="title"/>
          </p:nvPr>
        </p:nvSpPr>
        <p:spPr>
          <a:xfrm>
            <a:off x="505691" y="910021"/>
            <a:ext cx="10515600" cy="1325563"/>
          </a:xfrm>
        </p:spPr>
        <p:txBody>
          <a:bodyPr>
            <a:norm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Gender Distribution</a:t>
            </a:r>
          </a:p>
        </p:txBody>
      </p:sp>
      <p:sp>
        <p:nvSpPr>
          <p:cNvPr id="4" name="Rectangle 1">
            <a:extLst>
              <a:ext uri="{FF2B5EF4-FFF2-40B4-BE49-F238E27FC236}">
                <a16:creationId xmlns:a16="http://schemas.microsoft.com/office/drawing/2014/main" id="{92E18082-BF3A-DFAA-02AE-4E1F8A141AF8}"/>
              </a:ext>
            </a:extLst>
          </p:cNvPr>
          <p:cNvSpPr>
            <a:spLocks noGrp="1" noChangeArrowheads="1"/>
          </p:cNvSpPr>
          <p:nvPr>
            <p:ph idx="1"/>
          </p:nvPr>
        </p:nvSpPr>
        <p:spPr bwMode="auto">
          <a:xfrm>
            <a:off x="505691" y="2616785"/>
            <a:ext cx="629304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Female Customers:</a:t>
            </a:r>
            <a:r>
              <a:rPr kumimoji="0" lang="en-US" altLang="en-US" sz="1800" b="0" i="0" u="none" strike="noStrike" cap="none" normalizeH="0" baseline="0" dirty="0">
                <a:ln>
                  <a:noFill/>
                </a:ln>
                <a:solidFill>
                  <a:schemeClr val="tx1"/>
                </a:solidFill>
                <a:effectLst/>
                <a:latin typeface="Arial" panose="020B0604020202020204" pitchFamily="34" charset="0"/>
              </a:rPr>
              <a:t> 62%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Male Customers:</a:t>
            </a:r>
            <a:r>
              <a:rPr kumimoji="0" lang="en-US" altLang="en-US" sz="1800" b="0" i="0" u="none" strike="noStrike" cap="none" normalizeH="0" baseline="0" dirty="0">
                <a:ln>
                  <a:noFill/>
                </a:ln>
                <a:solidFill>
                  <a:schemeClr val="tx1"/>
                </a:solidFill>
                <a:effectLst/>
                <a:latin typeface="Arial" panose="020B0604020202020204" pitchFamily="34" charset="0"/>
              </a:rPr>
              <a:t> 38%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Female customers generate </a:t>
            </a:r>
            <a:r>
              <a:rPr kumimoji="0" lang="en-US" altLang="en-US" sz="1800" b="1" i="0" u="none" strike="noStrike" cap="none" normalizeH="0" baseline="0" dirty="0">
                <a:ln>
                  <a:noFill/>
                </a:ln>
                <a:solidFill>
                  <a:schemeClr val="tx1"/>
                </a:solidFill>
                <a:effectLst/>
                <a:latin typeface="Arial" panose="020B0604020202020204" pitchFamily="34" charset="0"/>
              </a:rPr>
              <a:t>higher revenue and quantity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Female segment is the major driver of sales</a:t>
            </a:r>
          </a:p>
        </p:txBody>
      </p:sp>
      <p:pic>
        <p:nvPicPr>
          <p:cNvPr id="5" name="Picture 4" descr="A blue circle with white text">
            <a:extLst>
              <a:ext uri="{FF2B5EF4-FFF2-40B4-BE49-F238E27FC236}">
                <a16:creationId xmlns:a16="http://schemas.microsoft.com/office/drawing/2014/main" id="{D3EB4F39-32C9-BCAD-4FA1-A9F6E4853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0756" y="2132722"/>
            <a:ext cx="4617019" cy="2592555"/>
          </a:xfrm>
          <a:prstGeom prst="rect">
            <a:avLst/>
          </a:prstGeom>
        </p:spPr>
      </p:pic>
    </p:spTree>
    <p:extLst>
      <p:ext uri="{BB962C8B-B14F-4D97-AF65-F5344CB8AC3E}">
        <p14:creationId xmlns:p14="http://schemas.microsoft.com/office/powerpoint/2010/main" val="1728814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943F4-3EA0-EED9-FF47-270F670073F7}"/>
              </a:ext>
            </a:extLst>
          </p:cNvPr>
          <p:cNvSpPr>
            <a:spLocks noGrp="1"/>
          </p:cNvSpPr>
          <p:nvPr>
            <p:ph type="title"/>
          </p:nvPr>
        </p:nvSpPr>
        <p:spPr/>
        <p:txBody>
          <a:bodyPr>
            <a:norm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Revenue by Category</a:t>
            </a:r>
          </a:p>
        </p:txBody>
      </p:sp>
      <p:sp>
        <p:nvSpPr>
          <p:cNvPr id="3" name="Content Placeholder 2">
            <a:extLst>
              <a:ext uri="{FF2B5EF4-FFF2-40B4-BE49-F238E27FC236}">
                <a16:creationId xmlns:a16="http://schemas.microsoft.com/office/drawing/2014/main" id="{CF839608-4247-FF2D-D778-F645696CF32D}"/>
              </a:ext>
            </a:extLst>
          </p:cNvPr>
          <p:cNvSpPr>
            <a:spLocks noGrp="1"/>
          </p:cNvSpPr>
          <p:nvPr>
            <p:ph idx="1"/>
          </p:nvPr>
        </p:nvSpPr>
        <p:spPr/>
        <p:txBody>
          <a:bodyPr>
            <a:normAutofit/>
          </a:bodyPr>
          <a:lstStyle/>
          <a:p>
            <a:r>
              <a:rPr lang="en-US" dirty="0"/>
              <a:t>Top revenue-generating categories:</a:t>
            </a:r>
          </a:p>
          <a:p>
            <a:r>
              <a:rPr lang="en-US" b="1" dirty="0"/>
              <a:t>Clothing</a:t>
            </a:r>
            <a:endParaRPr lang="en-US" dirty="0"/>
          </a:p>
          <a:p>
            <a:r>
              <a:rPr lang="en-US" b="1" dirty="0"/>
              <a:t>Shoes</a:t>
            </a:r>
            <a:endParaRPr lang="en-US" dirty="0"/>
          </a:p>
          <a:p>
            <a:r>
              <a:rPr lang="en-US" b="1" dirty="0"/>
              <a:t>Technology</a:t>
            </a:r>
            <a:endParaRPr lang="en-US" dirty="0"/>
          </a:p>
          <a:p>
            <a:r>
              <a:rPr lang="en-US" b="1" dirty="0"/>
              <a:t>Cosmetics</a:t>
            </a:r>
            <a:endParaRPr lang="en-US" dirty="0"/>
          </a:p>
          <a:p>
            <a:r>
              <a:rPr lang="en-US" dirty="0"/>
              <a:t>Lowest categories:</a:t>
            </a:r>
          </a:p>
          <a:p>
            <a:r>
              <a:rPr lang="en-US" b="1" dirty="0"/>
              <a:t>Souvenir</a:t>
            </a:r>
          </a:p>
          <a:p>
            <a:r>
              <a:rPr lang="en-US" b="1" dirty="0"/>
              <a:t>Food &amp; Beverage</a:t>
            </a:r>
          </a:p>
          <a:p>
            <a:endParaRPr lang="en-IN" dirty="0"/>
          </a:p>
        </p:txBody>
      </p:sp>
      <p:pic>
        <p:nvPicPr>
          <p:cNvPr id="5" name="Picture 4" descr="A graph with blue bars&#10;&#10;AI-generated content may be incorrect.">
            <a:extLst>
              <a:ext uri="{FF2B5EF4-FFF2-40B4-BE49-F238E27FC236}">
                <a16:creationId xmlns:a16="http://schemas.microsoft.com/office/drawing/2014/main" id="{D27137A6-CC84-DDD8-4265-5999F72CB3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6331" y="2573686"/>
            <a:ext cx="5304670" cy="3164190"/>
          </a:xfrm>
          <a:prstGeom prst="rect">
            <a:avLst/>
          </a:prstGeom>
        </p:spPr>
      </p:pic>
    </p:spTree>
    <p:extLst>
      <p:ext uri="{BB962C8B-B14F-4D97-AF65-F5344CB8AC3E}">
        <p14:creationId xmlns:p14="http://schemas.microsoft.com/office/powerpoint/2010/main" val="1587422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0D47B-BDFB-9B99-254E-385DB9987494}"/>
              </a:ext>
            </a:extLst>
          </p:cNvPr>
          <p:cNvSpPr>
            <a:spLocks noGrp="1"/>
          </p:cNvSpPr>
          <p:nvPr>
            <p:ph type="title"/>
          </p:nvPr>
        </p:nvSpPr>
        <p:spPr/>
        <p:txBody>
          <a:bodyPr>
            <a:norm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Age Group Insights</a:t>
            </a:r>
          </a:p>
        </p:txBody>
      </p:sp>
      <p:sp>
        <p:nvSpPr>
          <p:cNvPr id="3" name="Content Placeholder 2">
            <a:extLst>
              <a:ext uri="{FF2B5EF4-FFF2-40B4-BE49-F238E27FC236}">
                <a16:creationId xmlns:a16="http://schemas.microsoft.com/office/drawing/2014/main" id="{4D0092DE-7266-4146-097B-31B20DBC3BE9}"/>
              </a:ext>
            </a:extLst>
          </p:cNvPr>
          <p:cNvSpPr>
            <a:spLocks noGrp="1"/>
          </p:cNvSpPr>
          <p:nvPr>
            <p:ph idx="1"/>
          </p:nvPr>
        </p:nvSpPr>
        <p:spPr/>
        <p:txBody>
          <a:bodyPr>
            <a:normAutofit/>
          </a:bodyPr>
          <a:lstStyle/>
          <a:p>
            <a:r>
              <a:rPr lang="en-US" b="1" dirty="0"/>
              <a:t>46–60</a:t>
            </a:r>
            <a:r>
              <a:rPr lang="en-US" dirty="0"/>
              <a:t> age group has the highest revenue</a:t>
            </a:r>
          </a:p>
          <a:p>
            <a:r>
              <a:rPr lang="en-US" dirty="0"/>
              <a:t>Followed by:</a:t>
            </a:r>
          </a:p>
          <a:p>
            <a:pPr lvl="1"/>
            <a:r>
              <a:rPr lang="en-US" dirty="0"/>
              <a:t>36–45</a:t>
            </a:r>
          </a:p>
          <a:p>
            <a:pPr lvl="1"/>
            <a:r>
              <a:rPr lang="en-US" dirty="0"/>
              <a:t>26–35</a:t>
            </a:r>
          </a:p>
          <a:p>
            <a:pPr lvl="1"/>
            <a:r>
              <a:rPr lang="en-US" dirty="0"/>
              <a:t>60+</a:t>
            </a:r>
          </a:p>
          <a:p>
            <a:pPr lvl="1"/>
            <a:r>
              <a:rPr lang="en-US" dirty="0"/>
              <a:t>18–25</a:t>
            </a:r>
          </a:p>
          <a:p>
            <a:r>
              <a:rPr lang="en-US" dirty="0"/>
              <a:t>Older age groups tend to spend more.</a:t>
            </a:r>
          </a:p>
          <a:p>
            <a:endParaRPr lang="en-IN" dirty="0"/>
          </a:p>
        </p:txBody>
      </p:sp>
      <p:pic>
        <p:nvPicPr>
          <p:cNvPr id="7" name="Picture 6" descr="A graph with blue bars&#10;&#10;AI-generated content may be incorrect.">
            <a:extLst>
              <a:ext uri="{FF2B5EF4-FFF2-40B4-BE49-F238E27FC236}">
                <a16:creationId xmlns:a16="http://schemas.microsoft.com/office/drawing/2014/main" id="{5E6BC958-544A-F2A8-A284-6210C22144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2492" y="1938172"/>
            <a:ext cx="4449441" cy="2532228"/>
          </a:xfrm>
          <a:prstGeom prst="rect">
            <a:avLst/>
          </a:prstGeom>
        </p:spPr>
      </p:pic>
    </p:spTree>
    <p:extLst>
      <p:ext uri="{BB962C8B-B14F-4D97-AF65-F5344CB8AC3E}">
        <p14:creationId xmlns:p14="http://schemas.microsoft.com/office/powerpoint/2010/main" val="720300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CF3B3-199C-6A51-33BB-2BB2D32EDBF6}"/>
              </a:ext>
            </a:extLst>
          </p:cNvPr>
          <p:cNvSpPr>
            <a:spLocks noGrp="1"/>
          </p:cNvSpPr>
          <p:nvPr>
            <p:ph type="title"/>
          </p:nvPr>
        </p:nvSpPr>
        <p:spPr>
          <a:xfrm>
            <a:off x="892048" y="308650"/>
            <a:ext cx="10058400" cy="1274617"/>
          </a:xfrm>
        </p:spPr>
        <p:txBody>
          <a:bodyPr>
            <a:norm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Payment Method Distribution</a:t>
            </a:r>
          </a:p>
        </p:txBody>
      </p:sp>
      <p:sp>
        <p:nvSpPr>
          <p:cNvPr id="3" name="Content Placeholder 2">
            <a:extLst>
              <a:ext uri="{FF2B5EF4-FFF2-40B4-BE49-F238E27FC236}">
                <a16:creationId xmlns:a16="http://schemas.microsoft.com/office/drawing/2014/main" id="{EACB709E-9905-A647-97C9-6FC1D237FA63}"/>
              </a:ext>
            </a:extLst>
          </p:cNvPr>
          <p:cNvSpPr>
            <a:spLocks noGrp="1"/>
          </p:cNvSpPr>
          <p:nvPr>
            <p:ph idx="1"/>
          </p:nvPr>
        </p:nvSpPr>
        <p:spPr/>
        <p:txBody>
          <a:bodyPr/>
          <a:lstStyle/>
          <a:p>
            <a:r>
              <a:rPr lang="en-US" dirty="0"/>
              <a:t>From dashboards:</a:t>
            </a:r>
          </a:p>
          <a:p>
            <a:r>
              <a:rPr lang="en-US" b="1" dirty="0"/>
              <a:t>Cash:</a:t>
            </a:r>
            <a:r>
              <a:rPr lang="en-US" dirty="0"/>
              <a:t> 42%</a:t>
            </a:r>
          </a:p>
          <a:p>
            <a:r>
              <a:rPr lang="en-US" b="1" dirty="0"/>
              <a:t>Credit Card:</a:t>
            </a:r>
            <a:r>
              <a:rPr lang="en-US" dirty="0"/>
              <a:t> 36.6%</a:t>
            </a:r>
          </a:p>
          <a:p>
            <a:r>
              <a:rPr lang="en-US" b="1" dirty="0"/>
              <a:t>Debit Card:</a:t>
            </a:r>
            <a:r>
              <a:rPr lang="en-US" dirty="0"/>
              <a:t> 21.4%</a:t>
            </a:r>
          </a:p>
          <a:p>
            <a:r>
              <a:rPr lang="en-US" dirty="0"/>
              <a:t>Cash is still the dominant payment mode.</a:t>
            </a:r>
          </a:p>
          <a:p>
            <a:endParaRPr lang="en-IN" dirty="0"/>
          </a:p>
        </p:txBody>
      </p:sp>
      <p:pic>
        <p:nvPicPr>
          <p:cNvPr id="7" name="Picture 6" descr="A pie chart with numbers and a diagram&#10;&#10;AI-generated content may be incorrect.">
            <a:extLst>
              <a:ext uri="{FF2B5EF4-FFF2-40B4-BE49-F238E27FC236}">
                <a16:creationId xmlns:a16="http://schemas.microsoft.com/office/drawing/2014/main" id="{CD02A58F-FC95-85D1-2470-D92B455CF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3702" y="1690688"/>
            <a:ext cx="4359319" cy="2668754"/>
          </a:xfrm>
          <a:prstGeom prst="rect">
            <a:avLst/>
          </a:prstGeom>
        </p:spPr>
      </p:pic>
    </p:spTree>
    <p:extLst>
      <p:ext uri="{BB962C8B-B14F-4D97-AF65-F5344CB8AC3E}">
        <p14:creationId xmlns:p14="http://schemas.microsoft.com/office/powerpoint/2010/main" val="573839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C85B5-BB73-7BCB-38E8-599D4642515A}"/>
              </a:ext>
            </a:extLst>
          </p:cNvPr>
          <p:cNvSpPr>
            <a:spLocks noGrp="1"/>
          </p:cNvSpPr>
          <p:nvPr>
            <p:ph type="title"/>
          </p:nvPr>
        </p:nvSpPr>
        <p:spPr>
          <a:xfrm>
            <a:off x="705780" y="510032"/>
            <a:ext cx="10902019" cy="988568"/>
          </a:xfrm>
        </p:spPr>
        <p:txBody>
          <a:bodyPr>
            <a:no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Gender Wise Revenue &amp; Quantity</a:t>
            </a:r>
          </a:p>
        </p:txBody>
      </p:sp>
      <p:sp>
        <p:nvSpPr>
          <p:cNvPr id="3" name="Content Placeholder 2">
            <a:extLst>
              <a:ext uri="{FF2B5EF4-FFF2-40B4-BE49-F238E27FC236}">
                <a16:creationId xmlns:a16="http://schemas.microsoft.com/office/drawing/2014/main" id="{948FC44C-5A7D-42DF-5D14-BDADCB2A6900}"/>
              </a:ext>
            </a:extLst>
          </p:cNvPr>
          <p:cNvSpPr>
            <a:spLocks noGrp="1"/>
          </p:cNvSpPr>
          <p:nvPr>
            <p:ph idx="1"/>
          </p:nvPr>
        </p:nvSpPr>
        <p:spPr/>
        <p:txBody>
          <a:bodyPr/>
          <a:lstStyle/>
          <a:p>
            <a:r>
              <a:rPr lang="en-US" b="1" dirty="0"/>
              <a:t>Female Revenue:</a:t>
            </a:r>
            <a:r>
              <a:rPr lang="en-US" dirty="0"/>
              <a:t> 1.41M</a:t>
            </a:r>
            <a:br>
              <a:rPr lang="en-US" dirty="0"/>
            </a:br>
            <a:r>
              <a:rPr lang="en-US" b="1" dirty="0"/>
              <a:t>Male Revenue:</a:t>
            </a:r>
            <a:r>
              <a:rPr lang="en-US" dirty="0"/>
              <a:t> 956K</a:t>
            </a:r>
          </a:p>
          <a:p>
            <a:r>
              <a:rPr lang="en-US" b="1" dirty="0"/>
              <a:t>Female Quantity:</a:t>
            </a:r>
            <a:r>
              <a:rPr lang="en-US" dirty="0"/>
              <a:t> 1853</a:t>
            </a:r>
            <a:br>
              <a:rPr lang="en-US" dirty="0"/>
            </a:br>
            <a:r>
              <a:rPr lang="en-US" b="1" dirty="0"/>
              <a:t>Male Quantity:</a:t>
            </a:r>
            <a:r>
              <a:rPr lang="en-US" dirty="0"/>
              <a:t> 1128</a:t>
            </a:r>
          </a:p>
          <a:p>
            <a:r>
              <a:rPr lang="en-US" dirty="0"/>
              <a:t>Females buy </a:t>
            </a:r>
            <a:r>
              <a:rPr lang="en-US" b="1" dirty="0"/>
              <a:t>more items</a:t>
            </a:r>
            <a:r>
              <a:rPr lang="en-US" dirty="0"/>
              <a:t> and generate </a:t>
            </a:r>
            <a:r>
              <a:rPr lang="en-US" b="1" dirty="0"/>
              <a:t>higher revenue</a:t>
            </a:r>
            <a:r>
              <a:rPr lang="en-US" dirty="0"/>
              <a:t>.</a:t>
            </a:r>
          </a:p>
          <a:p>
            <a:endParaRPr lang="en-IN" dirty="0"/>
          </a:p>
        </p:txBody>
      </p:sp>
    </p:spTree>
    <p:extLst>
      <p:ext uri="{BB962C8B-B14F-4D97-AF65-F5344CB8AC3E}">
        <p14:creationId xmlns:p14="http://schemas.microsoft.com/office/powerpoint/2010/main" val="4035919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AF8E4-A1D3-2077-EEAE-2E99E114A4F7}"/>
              </a:ext>
            </a:extLst>
          </p:cNvPr>
          <p:cNvSpPr>
            <a:spLocks noGrp="1"/>
          </p:cNvSpPr>
          <p:nvPr>
            <p:ph type="title"/>
          </p:nvPr>
        </p:nvSpPr>
        <p:spPr>
          <a:xfrm>
            <a:off x="374056" y="194788"/>
            <a:ext cx="11443887" cy="1388479"/>
          </a:xfrm>
        </p:spPr>
        <p:txBody>
          <a:bodyPr>
            <a:norm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Category Preference by Gender</a:t>
            </a:r>
          </a:p>
        </p:txBody>
      </p:sp>
      <p:sp>
        <p:nvSpPr>
          <p:cNvPr id="3" name="Content Placeholder 2">
            <a:extLst>
              <a:ext uri="{FF2B5EF4-FFF2-40B4-BE49-F238E27FC236}">
                <a16:creationId xmlns:a16="http://schemas.microsoft.com/office/drawing/2014/main" id="{E0F8786F-EDBE-BF3D-1AC7-9D6FD0E59002}"/>
              </a:ext>
            </a:extLst>
          </p:cNvPr>
          <p:cNvSpPr>
            <a:spLocks noGrp="1"/>
          </p:cNvSpPr>
          <p:nvPr>
            <p:ph idx="1"/>
          </p:nvPr>
        </p:nvSpPr>
        <p:spPr/>
        <p:txBody>
          <a:bodyPr>
            <a:normAutofit/>
          </a:bodyPr>
          <a:lstStyle/>
          <a:p>
            <a:r>
              <a:rPr lang="en-US" dirty="0"/>
              <a:t>Female Preferred Categories:</a:t>
            </a:r>
          </a:p>
          <a:p>
            <a:r>
              <a:rPr lang="en-US" dirty="0"/>
              <a:t>Cosmetics (64%)</a:t>
            </a:r>
          </a:p>
          <a:p>
            <a:r>
              <a:rPr lang="en-US" dirty="0"/>
              <a:t>Toys (65%)</a:t>
            </a:r>
          </a:p>
          <a:p>
            <a:r>
              <a:rPr lang="en-US" dirty="0"/>
              <a:t>Clothing (62%)</a:t>
            </a:r>
          </a:p>
          <a:p>
            <a:r>
              <a:rPr lang="en-US" dirty="0"/>
              <a:t>Food &amp; Beverage (60%)</a:t>
            </a:r>
          </a:p>
          <a:p>
            <a:r>
              <a:rPr lang="en-US" dirty="0"/>
              <a:t>Male has stronger preference for:</a:t>
            </a:r>
          </a:p>
          <a:p>
            <a:r>
              <a:rPr lang="en-US" dirty="0"/>
              <a:t>Technology</a:t>
            </a:r>
          </a:p>
          <a:p>
            <a:r>
              <a:rPr lang="en-US" dirty="0"/>
              <a:t>Books</a:t>
            </a:r>
          </a:p>
          <a:p>
            <a:endParaRPr lang="en-IN" dirty="0"/>
          </a:p>
        </p:txBody>
      </p:sp>
      <p:pic>
        <p:nvPicPr>
          <p:cNvPr id="5" name="Picture 4" descr="A screenshot of a graph&#10;&#10;AI-generated content may be incorrect.">
            <a:extLst>
              <a:ext uri="{FF2B5EF4-FFF2-40B4-BE49-F238E27FC236}">
                <a16:creationId xmlns:a16="http://schemas.microsoft.com/office/drawing/2014/main" id="{93B10302-2EA7-534A-A1C9-F8B15AB026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5054" y="1583267"/>
            <a:ext cx="3772426" cy="4531644"/>
          </a:xfrm>
          <a:prstGeom prst="rect">
            <a:avLst/>
          </a:prstGeom>
        </p:spPr>
      </p:pic>
    </p:spTree>
    <p:extLst>
      <p:ext uri="{BB962C8B-B14F-4D97-AF65-F5344CB8AC3E}">
        <p14:creationId xmlns:p14="http://schemas.microsoft.com/office/powerpoint/2010/main" val="1416416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4E758-AE58-FFAE-2764-611B584BEE9F}"/>
              </a:ext>
            </a:extLst>
          </p:cNvPr>
          <p:cNvSpPr>
            <a:spLocks noGrp="1"/>
          </p:cNvSpPr>
          <p:nvPr>
            <p:ph type="title"/>
          </p:nvPr>
        </p:nvSpPr>
        <p:spPr>
          <a:xfrm>
            <a:off x="702734" y="365125"/>
            <a:ext cx="10515600" cy="1325563"/>
          </a:xfrm>
        </p:spPr>
        <p:txBody>
          <a:bodyPr>
            <a:norm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Age Group vs Category</a:t>
            </a:r>
          </a:p>
        </p:txBody>
      </p:sp>
      <p:sp>
        <p:nvSpPr>
          <p:cNvPr id="4" name="Rectangle 1">
            <a:extLst>
              <a:ext uri="{FF2B5EF4-FFF2-40B4-BE49-F238E27FC236}">
                <a16:creationId xmlns:a16="http://schemas.microsoft.com/office/drawing/2014/main" id="{59E06512-1E25-DA3A-0C16-44D6A31F7141}"/>
              </a:ext>
            </a:extLst>
          </p:cNvPr>
          <p:cNvSpPr>
            <a:spLocks noGrp="1" noChangeArrowheads="1"/>
          </p:cNvSpPr>
          <p:nvPr>
            <p:ph idx="1"/>
          </p:nvPr>
        </p:nvSpPr>
        <p:spPr bwMode="auto">
          <a:xfrm>
            <a:off x="702734" y="1491102"/>
            <a:ext cx="792082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 age groups show similar category participation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Clothing is bought across all age groups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Cosmetics and Shoes are more popular among 26–45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Toys more popular among older age groups (grandparents buying for kids) </a:t>
            </a:r>
          </a:p>
        </p:txBody>
      </p:sp>
      <p:sp>
        <p:nvSpPr>
          <p:cNvPr id="5" name="TextBox 4">
            <a:extLst>
              <a:ext uri="{FF2B5EF4-FFF2-40B4-BE49-F238E27FC236}">
                <a16:creationId xmlns:a16="http://schemas.microsoft.com/office/drawing/2014/main" id="{5FE8CAE8-911E-4BE3-D22E-05E26DEC2F48}"/>
              </a:ext>
            </a:extLst>
          </p:cNvPr>
          <p:cNvSpPr txBox="1"/>
          <p:nvPr/>
        </p:nvSpPr>
        <p:spPr>
          <a:xfrm>
            <a:off x="702734" y="2946681"/>
            <a:ext cx="10794999" cy="769441"/>
          </a:xfrm>
          <a:prstGeom prst="rect">
            <a:avLst/>
          </a:prstGeom>
          <a:noFill/>
        </p:spPr>
        <p:txBody>
          <a:bodyPr wrap="square">
            <a:spAutoFit/>
          </a:bodyPr>
          <a:lstStyle/>
          <a:p>
            <a:r>
              <a:rPr lang="en-US" sz="4400" b="1" dirty="0">
                <a:latin typeface="Calibri" panose="020F0502020204030204" pitchFamily="34" charset="0"/>
                <a:ea typeface="Calibri" panose="020F0502020204030204" pitchFamily="34" charset="0"/>
                <a:cs typeface="Calibri" panose="020F0502020204030204" pitchFamily="34" charset="0"/>
              </a:rPr>
              <a:t>PAYMENT METHOD BY AGEGROUP</a:t>
            </a:r>
            <a:endParaRPr lang="en-IN" sz="4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57054F1-20D9-B82D-10DB-69AC4498C292}"/>
              </a:ext>
            </a:extLst>
          </p:cNvPr>
          <p:cNvSpPr txBox="1"/>
          <p:nvPr/>
        </p:nvSpPr>
        <p:spPr>
          <a:xfrm>
            <a:off x="702734" y="4443568"/>
            <a:ext cx="6096000"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Younger groups (18–35): more </a:t>
            </a:r>
            <a:r>
              <a:rPr kumimoji="0" lang="en-US" altLang="en-US" sz="1800" b="1" i="0" u="none" strike="noStrike" cap="none" normalizeH="0" baseline="0" dirty="0">
                <a:ln>
                  <a:noFill/>
                </a:ln>
                <a:solidFill>
                  <a:schemeClr val="tx1"/>
                </a:solidFill>
                <a:effectLst/>
                <a:latin typeface="Arial" panose="020B0604020202020204" pitchFamily="34" charset="0"/>
              </a:rPr>
              <a:t>debit card usage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Middle age groups (36–60): prefer </a:t>
            </a:r>
            <a:r>
              <a:rPr kumimoji="0" lang="en-US" altLang="en-US" sz="1800" b="1" i="0" u="none" strike="noStrike" cap="none" normalizeH="0" baseline="0" dirty="0">
                <a:ln>
                  <a:noFill/>
                </a:ln>
                <a:solidFill>
                  <a:schemeClr val="tx1"/>
                </a:solidFill>
                <a:effectLst/>
                <a:latin typeface="Arial" panose="020B0604020202020204" pitchFamily="34" charset="0"/>
              </a:rPr>
              <a:t>credit card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Older groups (60+): mostly </a:t>
            </a:r>
            <a:r>
              <a:rPr kumimoji="0" lang="en-US" altLang="en-US" sz="1800" b="1" i="0" u="none" strike="noStrike" cap="none" normalizeH="0" baseline="0" dirty="0">
                <a:ln>
                  <a:noFill/>
                </a:ln>
                <a:solidFill>
                  <a:schemeClr val="tx1"/>
                </a:solidFill>
                <a:effectLst/>
                <a:latin typeface="Arial" panose="020B0604020202020204" pitchFamily="34" charset="0"/>
              </a:rPr>
              <a:t>cash</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45250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C80AB-E962-A780-03E5-F35AAF9B068C}"/>
              </a:ext>
            </a:extLst>
          </p:cNvPr>
          <p:cNvSpPr>
            <a:spLocks noGrp="1"/>
          </p:cNvSpPr>
          <p:nvPr>
            <p:ph type="title"/>
          </p:nvPr>
        </p:nvSpPr>
        <p:spPr>
          <a:xfrm>
            <a:off x="838200" y="364071"/>
            <a:ext cx="10515600" cy="1325563"/>
          </a:xfrm>
        </p:spPr>
        <p:txBody>
          <a:bodyPr>
            <a:norm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Category &amp; Payment Method Insights</a:t>
            </a:r>
          </a:p>
        </p:txBody>
      </p:sp>
      <p:sp>
        <p:nvSpPr>
          <p:cNvPr id="4" name="Rectangle 1">
            <a:extLst>
              <a:ext uri="{FF2B5EF4-FFF2-40B4-BE49-F238E27FC236}">
                <a16:creationId xmlns:a16="http://schemas.microsoft.com/office/drawing/2014/main" id="{22A5D1BE-3839-E18A-895C-BA72E917863D}"/>
              </a:ext>
            </a:extLst>
          </p:cNvPr>
          <p:cNvSpPr>
            <a:spLocks noGrp="1" noChangeArrowheads="1"/>
          </p:cNvSpPr>
          <p:nvPr>
            <p:ph idx="1"/>
          </p:nvPr>
        </p:nvSpPr>
        <p:spPr bwMode="auto">
          <a:xfrm>
            <a:off x="1007532" y="1461287"/>
            <a:ext cx="712046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Clothing category has the </a:t>
            </a:r>
            <a:r>
              <a:rPr kumimoji="0" lang="en-US" altLang="en-US" sz="1800" b="1" i="0" u="none" strike="noStrike" cap="none" normalizeH="0" baseline="0" dirty="0">
                <a:ln>
                  <a:noFill/>
                </a:ln>
                <a:solidFill>
                  <a:schemeClr val="tx1"/>
                </a:solidFill>
                <a:effectLst/>
                <a:latin typeface="Arial" panose="020B0604020202020204" pitchFamily="34" charset="0"/>
              </a:rPr>
              <a:t>highest payment volume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Cash contributes the highest revenue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Debit card has the least revenue but steady use</a:t>
            </a:r>
          </a:p>
        </p:txBody>
      </p:sp>
      <p:sp>
        <p:nvSpPr>
          <p:cNvPr id="5" name="TextBox 4">
            <a:extLst>
              <a:ext uri="{FF2B5EF4-FFF2-40B4-BE49-F238E27FC236}">
                <a16:creationId xmlns:a16="http://schemas.microsoft.com/office/drawing/2014/main" id="{7A6CD824-20A8-A7E1-60B7-84CE97DAAB9F}"/>
              </a:ext>
            </a:extLst>
          </p:cNvPr>
          <p:cNvSpPr txBox="1"/>
          <p:nvPr/>
        </p:nvSpPr>
        <p:spPr>
          <a:xfrm>
            <a:off x="838200" y="2786850"/>
            <a:ext cx="6418634" cy="769441"/>
          </a:xfrm>
          <a:prstGeom prst="rect">
            <a:avLst/>
          </a:prstGeom>
          <a:noFill/>
        </p:spPr>
        <p:txBody>
          <a:bodyPr wrap="square">
            <a:sp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KEY BUSINESS INSIGHTS</a:t>
            </a:r>
          </a:p>
        </p:txBody>
      </p:sp>
      <p:sp>
        <p:nvSpPr>
          <p:cNvPr id="7" name="TextBox 6">
            <a:extLst>
              <a:ext uri="{FF2B5EF4-FFF2-40B4-BE49-F238E27FC236}">
                <a16:creationId xmlns:a16="http://schemas.microsoft.com/office/drawing/2014/main" id="{E66A0645-EA95-826D-900E-117E9826DC9E}"/>
              </a:ext>
            </a:extLst>
          </p:cNvPr>
          <p:cNvSpPr txBox="1"/>
          <p:nvPr/>
        </p:nvSpPr>
        <p:spPr>
          <a:xfrm>
            <a:off x="1007532" y="3662566"/>
            <a:ext cx="8019736"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Target female customers for higher sales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stocks and offers on Clothing and Shoes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Focus digital marketing on ages 36–60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Increase cashback offers for Debit &amp; Credit Card payments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Low-revenue categories (Souvenir, Food &amp; Beverage) need repositioning</a:t>
            </a:r>
          </a:p>
        </p:txBody>
      </p:sp>
    </p:spTree>
    <p:extLst>
      <p:ext uri="{BB962C8B-B14F-4D97-AF65-F5344CB8AC3E}">
        <p14:creationId xmlns:p14="http://schemas.microsoft.com/office/powerpoint/2010/main" val="2269751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6F28F02-DDE5-C133-12FC-8844E6159FE9}"/>
              </a:ext>
            </a:extLst>
          </p:cNvPr>
          <p:cNvSpPr>
            <a:spLocks noGrp="1"/>
          </p:cNvSpPr>
          <p:nvPr>
            <p:ph type="title"/>
          </p:nvPr>
        </p:nvSpPr>
        <p:spPr>
          <a:xfrm>
            <a:off x="834717" y="457199"/>
            <a:ext cx="10058400" cy="668867"/>
          </a:xfrm>
        </p:spPr>
        <p:txBody>
          <a:bodyPr>
            <a:normAutofit fontScale="90000"/>
          </a:bodyPr>
          <a:lstStyle/>
          <a:p>
            <a:r>
              <a:rPr lang="en-IN" sz="4400" dirty="0"/>
              <a:t>My </a:t>
            </a:r>
            <a:r>
              <a:rPr lang="en-IN" sz="4400" dirty="0" err="1"/>
              <a:t>Sql</a:t>
            </a:r>
            <a:r>
              <a:rPr lang="en-IN" sz="4400" dirty="0"/>
              <a:t> queries used</a:t>
            </a:r>
          </a:p>
        </p:txBody>
      </p:sp>
      <p:sp>
        <p:nvSpPr>
          <p:cNvPr id="7" name="Text 1">
            <a:extLst>
              <a:ext uri="{FF2B5EF4-FFF2-40B4-BE49-F238E27FC236}">
                <a16:creationId xmlns:a16="http://schemas.microsoft.com/office/drawing/2014/main" id="{B9437561-C2C3-6FE3-0F58-0003BBF26BE0}"/>
              </a:ext>
            </a:extLst>
          </p:cNvPr>
          <p:cNvSpPr>
            <a:spLocks noGrp="1"/>
          </p:cNvSpPr>
          <p:nvPr>
            <p:ph idx="1"/>
          </p:nvPr>
        </p:nvSpPr>
        <p:spPr>
          <a:xfrm>
            <a:off x="945218" y="1219588"/>
            <a:ext cx="10058400" cy="405079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50"/>
              </a:lnSpc>
              <a:buNone/>
            </a:pPr>
            <a:r>
              <a:rPr lang="en-US" sz="1150" dirty="0">
                <a:solidFill>
                  <a:srgbClr val="5B6E8C"/>
                </a:solidFill>
                <a:latin typeface="Manrope" pitchFamily="34" charset="0"/>
                <a:ea typeface="Manrope" pitchFamily="34" charset="-122"/>
                <a:cs typeface="Manrope" pitchFamily="34" charset="-120"/>
              </a:rPr>
              <a:t>(Short version on PPT - full version will be provided separately)</a:t>
            </a:r>
            <a:endParaRPr lang="en-US" sz="1150" dirty="0"/>
          </a:p>
        </p:txBody>
      </p:sp>
      <p:sp>
        <p:nvSpPr>
          <p:cNvPr id="9" name="TextBox 8">
            <a:extLst>
              <a:ext uri="{FF2B5EF4-FFF2-40B4-BE49-F238E27FC236}">
                <a16:creationId xmlns:a16="http://schemas.microsoft.com/office/drawing/2014/main" id="{20B947CC-6A70-E8F7-8C86-A9172CC059CD}"/>
              </a:ext>
            </a:extLst>
          </p:cNvPr>
          <p:cNvSpPr txBox="1"/>
          <p:nvPr/>
        </p:nvSpPr>
        <p:spPr>
          <a:xfrm>
            <a:off x="945218" y="1565940"/>
            <a:ext cx="5873593" cy="639983"/>
          </a:xfrm>
          <a:prstGeom prst="rect">
            <a:avLst/>
          </a:prstGeom>
          <a:noFill/>
        </p:spPr>
        <p:txBody>
          <a:bodyPr wrap="square">
            <a:spAutoFit/>
          </a:bodyPr>
          <a:lstStyle/>
          <a:p>
            <a:pPr marL="0" indent="0" algn="l">
              <a:lnSpc>
                <a:spcPts val="2200"/>
              </a:lnSpc>
              <a:buNone/>
            </a:pPr>
            <a:r>
              <a:rPr lang="en-US" sz="1800" dirty="0">
                <a:solidFill>
                  <a:srgbClr val="5B6E8C"/>
                </a:solidFill>
                <a:latin typeface="Alexandria Medium" pitchFamily="34" charset="0"/>
                <a:ea typeface="Alexandria Medium" pitchFamily="34" charset="-122"/>
                <a:cs typeface="Alexandria Medium" pitchFamily="34" charset="-120"/>
              </a:rPr>
              <a:t>Examples:</a:t>
            </a:r>
          </a:p>
          <a:p>
            <a:pPr marL="0" indent="0" algn="l">
              <a:lnSpc>
                <a:spcPts val="2200"/>
              </a:lnSpc>
              <a:buNone/>
            </a:pPr>
            <a:r>
              <a:rPr lang="en-US" sz="1800" dirty="0">
                <a:solidFill>
                  <a:srgbClr val="5B6E8C"/>
                </a:solidFill>
                <a:latin typeface="Alexandria Medium" pitchFamily="34" charset="0"/>
                <a:ea typeface="Alexandria Medium" pitchFamily="34" charset="-122"/>
              </a:rPr>
              <a:t>1.Total Revenue</a:t>
            </a:r>
            <a:endParaRPr lang="en-US" sz="1800" dirty="0"/>
          </a:p>
        </p:txBody>
      </p:sp>
      <p:sp>
        <p:nvSpPr>
          <p:cNvPr id="10" name="Shape 5">
            <a:extLst>
              <a:ext uri="{FF2B5EF4-FFF2-40B4-BE49-F238E27FC236}">
                <a16:creationId xmlns:a16="http://schemas.microsoft.com/office/drawing/2014/main" id="{2CC8512F-2867-634F-2F7E-33F6B2DB3086}"/>
              </a:ext>
            </a:extLst>
          </p:cNvPr>
          <p:cNvSpPr/>
          <p:nvPr/>
        </p:nvSpPr>
        <p:spPr>
          <a:xfrm>
            <a:off x="945218" y="2175876"/>
            <a:ext cx="7084085" cy="376399"/>
          </a:xfrm>
          <a:prstGeom prst="roundRect">
            <a:avLst>
              <a:gd name="adj" fmla="val 4840"/>
            </a:avLst>
          </a:prstGeom>
          <a:solidFill>
            <a:srgbClr val="F2F2F2"/>
          </a:solidFill>
          <a:ln/>
        </p:spPr>
        <p:txBody>
          <a:bodyPr/>
          <a:lstStyle/>
          <a:p>
            <a:r>
              <a:rPr lang="en-US" sz="1200" dirty="0"/>
              <a:t>SELECT SUM(quantity * price) AS total _revenue FROM customer; </a:t>
            </a:r>
            <a:endParaRPr lang="en-IN" sz="1200" dirty="0"/>
          </a:p>
        </p:txBody>
      </p:sp>
      <p:sp>
        <p:nvSpPr>
          <p:cNvPr id="11" name="Shape 5">
            <a:extLst>
              <a:ext uri="{FF2B5EF4-FFF2-40B4-BE49-F238E27FC236}">
                <a16:creationId xmlns:a16="http://schemas.microsoft.com/office/drawing/2014/main" id="{3F3E6DCC-797E-AEF2-262F-2FF610A94C4B}"/>
              </a:ext>
            </a:extLst>
          </p:cNvPr>
          <p:cNvSpPr/>
          <p:nvPr/>
        </p:nvSpPr>
        <p:spPr>
          <a:xfrm>
            <a:off x="973689" y="3056784"/>
            <a:ext cx="7084085" cy="376399"/>
          </a:xfrm>
          <a:prstGeom prst="roundRect">
            <a:avLst>
              <a:gd name="adj" fmla="val 4840"/>
            </a:avLst>
          </a:prstGeom>
          <a:solidFill>
            <a:srgbClr val="F2F2F2"/>
          </a:solidFill>
          <a:ln/>
        </p:spPr>
        <p:txBody>
          <a:bodyPr/>
          <a:lstStyle/>
          <a:p>
            <a:r>
              <a:rPr lang="en-US" sz="1200" dirty="0"/>
              <a:t>SELECT SUM(quantity * price) AS total _revenue FROM customer GROUP BY gender;</a:t>
            </a:r>
            <a:endParaRPr lang="en-IN" sz="1200" dirty="0"/>
          </a:p>
        </p:txBody>
      </p:sp>
      <p:sp>
        <p:nvSpPr>
          <p:cNvPr id="12" name="TextBox 11">
            <a:extLst>
              <a:ext uri="{FF2B5EF4-FFF2-40B4-BE49-F238E27FC236}">
                <a16:creationId xmlns:a16="http://schemas.microsoft.com/office/drawing/2014/main" id="{1E8E5EC8-182F-24F5-BCF0-E453537DD2B6}"/>
              </a:ext>
            </a:extLst>
          </p:cNvPr>
          <p:cNvSpPr txBox="1"/>
          <p:nvPr/>
        </p:nvSpPr>
        <p:spPr>
          <a:xfrm>
            <a:off x="945218" y="2407103"/>
            <a:ext cx="4166713" cy="645498"/>
          </a:xfrm>
          <a:prstGeom prst="rect">
            <a:avLst/>
          </a:prstGeom>
          <a:noFill/>
        </p:spPr>
        <p:txBody>
          <a:bodyPr wrap="square">
            <a:spAutoFit/>
          </a:bodyPr>
          <a:lstStyle/>
          <a:p>
            <a:pPr marL="0" indent="0" algn="l">
              <a:lnSpc>
                <a:spcPts val="2200"/>
              </a:lnSpc>
              <a:buNone/>
            </a:pPr>
            <a:endParaRPr lang="en-US" sz="1800" b="1" dirty="0">
              <a:solidFill>
                <a:srgbClr val="5B6E8C"/>
              </a:solidFill>
              <a:latin typeface="Alexandria Medium" pitchFamily="34" charset="0"/>
              <a:ea typeface="Alexandria Medium" pitchFamily="34" charset="-122"/>
              <a:cs typeface="Alexandria Medium" pitchFamily="34" charset="-120"/>
            </a:endParaRPr>
          </a:p>
          <a:p>
            <a:pPr marL="0" indent="0" algn="l">
              <a:lnSpc>
                <a:spcPts val="2200"/>
              </a:lnSpc>
              <a:buNone/>
            </a:pPr>
            <a:r>
              <a:rPr lang="en-US" b="1" dirty="0">
                <a:solidFill>
                  <a:srgbClr val="5B6E8C"/>
                </a:solidFill>
                <a:latin typeface="Alexandria Medium" pitchFamily="34" charset="0"/>
                <a:ea typeface="Alexandria Medium" pitchFamily="34" charset="-122"/>
              </a:rPr>
              <a:t>2</a:t>
            </a:r>
            <a:r>
              <a:rPr lang="en-US" sz="1800" b="1" dirty="0">
                <a:solidFill>
                  <a:srgbClr val="5B6E8C"/>
                </a:solidFill>
                <a:latin typeface="Alexandria Medium" pitchFamily="34" charset="0"/>
                <a:ea typeface="Alexandria Medium" pitchFamily="34" charset="-122"/>
              </a:rPr>
              <a:t>.Revenue by Gender</a:t>
            </a:r>
            <a:endParaRPr lang="en-US" sz="1800" b="1" dirty="0"/>
          </a:p>
        </p:txBody>
      </p:sp>
      <p:sp>
        <p:nvSpPr>
          <p:cNvPr id="15" name="TextBox 14">
            <a:extLst>
              <a:ext uri="{FF2B5EF4-FFF2-40B4-BE49-F238E27FC236}">
                <a16:creationId xmlns:a16="http://schemas.microsoft.com/office/drawing/2014/main" id="{2C70AD4A-E25C-EDCF-21B9-D525C667C21A}"/>
              </a:ext>
            </a:extLst>
          </p:cNvPr>
          <p:cNvSpPr txBox="1"/>
          <p:nvPr/>
        </p:nvSpPr>
        <p:spPr>
          <a:xfrm>
            <a:off x="945218" y="3199773"/>
            <a:ext cx="4166713" cy="645498"/>
          </a:xfrm>
          <a:prstGeom prst="rect">
            <a:avLst/>
          </a:prstGeom>
          <a:noFill/>
        </p:spPr>
        <p:txBody>
          <a:bodyPr wrap="square">
            <a:spAutoFit/>
          </a:bodyPr>
          <a:lstStyle/>
          <a:p>
            <a:pPr marL="0" indent="0" algn="l">
              <a:lnSpc>
                <a:spcPts val="2200"/>
              </a:lnSpc>
              <a:buNone/>
            </a:pPr>
            <a:endParaRPr lang="en-US" sz="1800" b="1" dirty="0">
              <a:solidFill>
                <a:srgbClr val="5B6E8C"/>
              </a:solidFill>
              <a:latin typeface="Alexandria Medium" pitchFamily="34" charset="0"/>
              <a:ea typeface="Alexandria Medium" pitchFamily="34" charset="-122"/>
              <a:cs typeface="Alexandria Medium" pitchFamily="34" charset="-120"/>
            </a:endParaRPr>
          </a:p>
          <a:p>
            <a:pPr marL="0" indent="0" algn="l">
              <a:lnSpc>
                <a:spcPts val="2200"/>
              </a:lnSpc>
              <a:buNone/>
            </a:pPr>
            <a:r>
              <a:rPr lang="en-US" sz="1800" b="1" dirty="0">
                <a:solidFill>
                  <a:srgbClr val="5B6E8C"/>
                </a:solidFill>
                <a:latin typeface="Alexandria Medium" pitchFamily="34" charset="0"/>
                <a:ea typeface="Alexandria Medium" pitchFamily="34" charset="-122"/>
              </a:rPr>
              <a:t>3.Revenue by Age Group</a:t>
            </a:r>
            <a:endParaRPr lang="en-US" sz="1800" b="1" dirty="0"/>
          </a:p>
        </p:txBody>
      </p:sp>
      <p:sp>
        <p:nvSpPr>
          <p:cNvPr id="17" name="Shape 5">
            <a:extLst>
              <a:ext uri="{FF2B5EF4-FFF2-40B4-BE49-F238E27FC236}">
                <a16:creationId xmlns:a16="http://schemas.microsoft.com/office/drawing/2014/main" id="{3E1801B0-5E7B-B70C-5E2E-31C720456EB6}"/>
              </a:ext>
            </a:extLst>
          </p:cNvPr>
          <p:cNvSpPr/>
          <p:nvPr/>
        </p:nvSpPr>
        <p:spPr>
          <a:xfrm>
            <a:off x="897657" y="3930799"/>
            <a:ext cx="10489137" cy="1926962"/>
          </a:xfrm>
          <a:prstGeom prst="roundRect">
            <a:avLst>
              <a:gd name="adj" fmla="val 4840"/>
            </a:avLst>
          </a:prstGeom>
          <a:solidFill>
            <a:srgbClr val="F2F2F2"/>
          </a:solidFill>
          <a:ln/>
        </p:spPr>
        <p:txBody>
          <a:bodyPr/>
          <a:lstStyle/>
          <a:p>
            <a:r>
              <a:rPr lang="en-US" sz="1200" dirty="0"/>
              <a:t>SELECT </a:t>
            </a:r>
          </a:p>
          <a:p>
            <a:r>
              <a:rPr lang="en-US" sz="1200" dirty="0"/>
              <a:t>CASE    </a:t>
            </a:r>
          </a:p>
          <a:p>
            <a:r>
              <a:rPr lang="en-US" sz="1200" dirty="0"/>
              <a:t>WHEN age BETWEEN 18 AND 25 THEN '18-25'    </a:t>
            </a:r>
          </a:p>
          <a:p>
            <a:r>
              <a:rPr lang="en-US" sz="1200" dirty="0"/>
              <a:t>WHEN age BETWEEN 26 AND 35 THEN '26-35'    WHEN age BETWEEN 36 AND 45 THEN '36-45'    WHEN age BETWEEN 46 AND 60 THEN ‘46-60’ </a:t>
            </a:r>
          </a:p>
          <a:p>
            <a:r>
              <a:rPr lang="en-US" sz="1200" dirty="0"/>
              <a:t>ELSE '60+’ </a:t>
            </a:r>
          </a:p>
          <a:p>
            <a:r>
              <a:rPr lang="en-US" sz="1200" dirty="0"/>
              <a:t>END AS </a:t>
            </a:r>
            <a:r>
              <a:rPr lang="en-US" sz="1200" dirty="0" err="1"/>
              <a:t>age_group</a:t>
            </a:r>
            <a:r>
              <a:rPr lang="en-US" sz="1200" dirty="0"/>
              <a:t>,  </a:t>
            </a:r>
          </a:p>
          <a:p>
            <a:r>
              <a:rPr lang="en-US" sz="1200" dirty="0"/>
              <a:t>SUM(quantity*price) AS </a:t>
            </a:r>
            <a:r>
              <a:rPr lang="en-US" sz="1200" dirty="0" err="1"/>
              <a:t>total_revenue</a:t>
            </a:r>
            <a:r>
              <a:rPr lang="en-US" sz="1200" dirty="0"/>
              <a:t> </a:t>
            </a:r>
          </a:p>
          <a:p>
            <a:r>
              <a:rPr lang="en-US" sz="1200" dirty="0"/>
              <a:t>FROM customer</a:t>
            </a:r>
          </a:p>
          <a:p>
            <a:r>
              <a:rPr lang="en-US" sz="1200" dirty="0"/>
              <a:t>GROUP BY </a:t>
            </a:r>
            <a:r>
              <a:rPr lang="en-US" sz="1200" dirty="0" err="1"/>
              <a:t>age_group</a:t>
            </a:r>
            <a:r>
              <a:rPr lang="en-US" sz="1200" dirty="0"/>
              <a:t>;</a:t>
            </a:r>
            <a:endParaRPr lang="en-IN" sz="1200" dirty="0"/>
          </a:p>
        </p:txBody>
      </p:sp>
      <p:sp>
        <p:nvSpPr>
          <p:cNvPr id="18" name="Text 15">
            <a:extLst>
              <a:ext uri="{FF2B5EF4-FFF2-40B4-BE49-F238E27FC236}">
                <a16:creationId xmlns:a16="http://schemas.microsoft.com/office/drawing/2014/main" id="{642649D7-ED07-EB76-35F1-1720E31956FC}"/>
              </a:ext>
            </a:extLst>
          </p:cNvPr>
          <p:cNvSpPr/>
          <p:nvPr/>
        </p:nvSpPr>
        <p:spPr>
          <a:xfrm rot="10800000" flipV="1">
            <a:off x="888948" y="5937253"/>
            <a:ext cx="478444" cy="296732"/>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850"/>
              </a:lnSpc>
              <a:buNone/>
            </a:pPr>
            <a:r>
              <a:rPr lang="en-US" sz="1150" dirty="0">
                <a:solidFill>
                  <a:srgbClr val="5B6E8C"/>
                </a:solidFill>
                <a:latin typeface="Manrope" pitchFamily="34" charset="0"/>
                <a:ea typeface="Manrope" pitchFamily="34" charset="-122"/>
                <a:cs typeface="Manrope" pitchFamily="34" charset="-120"/>
              </a:rPr>
              <a:t>Note:</a:t>
            </a:r>
            <a:endParaRPr lang="en-US" sz="1150" dirty="0"/>
          </a:p>
        </p:txBody>
      </p:sp>
      <p:sp>
        <p:nvSpPr>
          <p:cNvPr id="21" name="TextBox 20">
            <a:extLst>
              <a:ext uri="{FF2B5EF4-FFF2-40B4-BE49-F238E27FC236}">
                <a16:creationId xmlns:a16="http://schemas.microsoft.com/office/drawing/2014/main" id="{D5D4DA1B-C8BB-D1EC-9A8A-FD1D8C06489F}"/>
              </a:ext>
            </a:extLst>
          </p:cNvPr>
          <p:cNvSpPr txBox="1"/>
          <p:nvPr/>
        </p:nvSpPr>
        <p:spPr>
          <a:xfrm>
            <a:off x="888948" y="6233984"/>
            <a:ext cx="3273749" cy="261610"/>
          </a:xfrm>
          <a:prstGeom prst="rect">
            <a:avLst/>
          </a:prstGeom>
          <a:noFill/>
        </p:spPr>
        <p:txBody>
          <a:bodyPr wrap="square">
            <a:spAutoFit/>
          </a:bodyPr>
          <a:lstStyle/>
          <a:p>
            <a:r>
              <a:rPr lang="en-US" sz="1100" dirty="0">
                <a:solidFill>
                  <a:srgbClr val="5B6E8C"/>
                </a:solidFill>
                <a:latin typeface="Manrope" pitchFamily="34" charset="0"/>
                <a:ea typeface="Manrope" pitchFamily="34" charset="-122"/>
                <a:cs typeface="Manrope" pitchFamily="34" charset="-120"/>
              </a:rPr>
              <a:t>Full SQL Queries document is attached separately</a:t>
            </a:r>
            <a:endParaRPr lang="en-IN" sz="1100" dirty="0"/>
          </a:p>
        </p:txBody>
      </p:sp>
    </p:spTree>
    <p:extLst>
      <p:ext uri="{BB962C8B-B14F-4D97-AF65-F5344CB8AC3E}">
        <p14:creationId xmlns:p14="http://schemas.microsoft.com/office/powerpoint/2010/main" val="4092933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E3D90-BF21-E94F-F3CF-B16EAFFC838C}"/>
              </a:ext>
            </a:extLst>
          </p:cNvPr>
          <p:cNvSpPr>
            <a:spLocks noGrp="1"/>
          </p:cNvSpPr>
          <p:nvPr>
            <p:ph type="title"/>
          </p:nvPr>
        </p:nvSpPr>
        <p:spPr/>
        <p:txBody>
          <a:bodyPr>
            <a:normAutofit/>
          </a:bodyPr>
          <a:lstStyle/>
          <a:p>
            <a:r>
              <a:rPr lang="en-IN" sz="4400" b="1"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3" name="Content Placeholder 2">
            <a:extLst>
              <a:ext uri="{FF2B5EF4-FFF2-40B4-BE49-F238E27FC236}">
                <a16:creationId xmlns:a16="http://schemas.microsoft.com/office/drawing/2014/main" id="{2AEBEE26-B457-191B-F9FE-26CCFFFC165F}"/>
              </a:ext>
            </a:extLst>
          </p:cNvPr>
          <p:cNvSpPr>
            <a:spLocks noGrp="1"/>
          </p:cNvSpPr>
          <p:nvPr>
            <p:ph idx="1"/>
          </p:nvPr>
        </p:nvSpPr>
        <p:spPr/>
        <p:txBody>
          <a:bodyPr>
            <a:normAutofit/>
          </a:bodyPr>
          <a:lstStyle/>
          <a:p>
            <a:r>
              <a:rPr lang="en-US" dirty="0"/>
              <a:t>This analysis reveals customer behavior across gender, age, category, and payment method.</a:t>
            </a:r>
          </a:p>
          <a:p>
            <a:r>
              <a:rPr lang="en-US" dirty="0"/>
              <a:t>These insights help the business to:</a:t>
            </a:r>
          </a:p>
          <a:p>
            <a:r>
              <a:rPr lang="en-US" dirty="0"/>
              <a:t>Improve inventory planning</a:t>
            </a:r>
          </a:p>
          <a:p>
            <a:r>
              <a:rPr lang="en-US" dirty="0"/>
              <a:t>Target the right customer groups</a:t>
            </a:r>
          </a:p>
          <a:p>
            <a:r>
              <a:rPr lang="en-US" dirty="0"/>
              <a:t>Increase revenue through optimized marketing</a:t>
            </a:r>
          </a:p>
          <a:p>
            <a:r>
              <a:rPr lang="en-US" dirty="0"/>
              <a:t>Enhance payment method strategies</a:t>
            </a:r>
          </a:p>
          <a:p>
            <a:endParaRPr lang="en-IN" dirty="0"/>
          </a:p>
        </p:txBody>
      </p:sp>
    </p:spTree>
    <p:extLst>
      <p:ext uri="{BB962C8B-B14F-4D97-AF65-F5344CB8AC3E}">
        <p14:creationId xmlns:p14="http://schemas.microsoft.com/office/powerpoint/2010/main" val="432633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49B67-5588-C0D7-E64B-17D0032BD774}"/>
              </a:ext>
            </a:extLst>
          </p:cNvPr>
          <p:cNvSpPr>
            <a:spLocks noGrp="1"/>
          </p:cNvSpPr>
          <p:nvPr>
            <p:ph type="title"/>
          </p:nvPr>
        </p:nvSpPr>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Thank You</a:t>
            </a:r>
          </a:p>
        </p:txBody>
      </p:sp>
      <p:sp>
        <p:nvSpPr>
          <p:cNvPr id="3" name="Content Placeholder 2">
            <a:extLst>
              <a:ext uri="{FF2B5EF4-FFF2-40B4-BE49-F238E27FC236}">
                <a16:creationId xmlns:a16="http://schemas.microsoft.com/office/drawing/2014/main" id="{DEFB5BA4-90CD-6B64-62F0-DA9C1FEF8EB7}"/>
              </a:ext>
            </a:extLst>
          </p:cNvPr>
          <p:cNvSpPr>
            <a:spLocks noGrp="1"/>
          </p:cNvSpPr>
          <p:nvPr>
            <p:ph idx="1"/>
          </p:nvPr>
        </p:nvSpPr>
        <p:spPr/>
        <p:txBody>
          <a:bodyPr/>
          <a:lstStyle/>
          <a:p>
            <a:r>
              <a:rPr lang="en-IN" dirty="0"/>
              <a:t>Prepared by: </a:t>
            </a:r>
            <a:r>
              <a:rPr lang="en-IN" b="1" dirty="0"/>
              <a:t>Dinesha K Y</a:t>
            </a:r>
          </a:p>
          <a:p>
            <a:r>
              <a:rPr lang="en-IN" dirty="0"/>
              <a:t>Course         : </a:t>
            </a:r>
            <a:r>
              <a:rPr lang="en-IN" b="1" dirty="0"/>
              <a:t>Certified Data Analyst</a:t>
            </a:r>
          </a:p>
          <a:p>
            <a:r>
              <a:rPr lang="en-IN" dirty="0"/>
              <a:t>Batch id       : </a:t>
            </a:r>
            <a:r>
              <a:rPr lang="en-IN" b="1" dirty="0"/>
              <a:t>CDA-BUN-040-WDM1130-BAN</a:t>
            </a:r>
          </a:p>
          <a:p>
            <a:pPr marL="0" indent="0">
              <a:buNone/>
            </a:pPr>
            <a:endParaRPr lang="en-IN" b="1" dirty="0"/>
          </a:p>
        </p:txBody>
      </p:sp>
    </p:spTree>
    <p:extLst>
      <p:ext uri="{BB962C8B-B14F-4D97-AF65-F5344CB8AC3E}">
        <p14:creationId xmlns:p14="http://schemas.microsoft.com/office/powerpoint/2010/main" val="37071228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950</TotalTime>
  <Words>757</Words>
  <Application>Microsoft Office PowerPoint</Application>
  <PresentationFormat>Widescreen</PresentationFormat>
  <Paragraphs>149</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Alexandria Medium</vt:lpstr>
      <vt:lpstr>Arial</vt:lpstr>
      <vt:lpstr>Calibri</vt:lpstr>
      <vt:lpstr>Manrope</vt:lpstr>
      <vt:lpstr>Rockwell</vt:lpstr>
      <vt:lpstr>Rockwell Condensed</vt:lpstr>
      <vt:lpstr>Wingdings</vt:lpstr>
      <vt:lpstr>Wood Type</vt:lpstr>
      <vt:lpstr>Customer Data Analysis</vt:lpstr>
      <vt:lpstr>      Introduction </vt:lpstr>
      <vt:lpstr>PROJECT OBJECTIVE</vt:lpstr>
      <vt:lpstr>DATASET OVERVIEW </vt:lpstr>
      <vt:lpstr>Data Cleaning</vt:lpstr>
      <vt:lpstr>Executive Summary (KPIs)</vt:lpstr>
      <vt:lpstr>Gender Distribution</vt:lpstr>
      <vt:lpstr>Revenue by Category</vt:lpstr>
      <vt:lpstr>Age Group Insights</vt:lpstr>
      <vt:lpstr>Payment Method Distribution</vt:lpstr>
      <vt:lpstr>Gender Wise Revenue &amp; Quantity</vt:lpstr>
      <vt:lpstr>Category Preference by Gender</vt:lpstr>
      <vt:lpstr>Age Group vs Category</vt:lpstr>
      <vt:lpstr>Category &amp; Payment Method Insights</vt:lpstr>
      <vt:lpstr>My Sql queries used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Dinesha Ky</dc:creator>
  <cp:lastModifiedBy>Dinesha Ky</cp:lastModifiedBy>
  <cp:revision>27</cp:revision>
  <dcterms:created xsi:type="dcterms:W3CDTF">2025-12-09T17:40:36Z</dcterms:created>
  <dcterms:modified xsi:type="dcterms:W3CDTF">2025-12-11T07:42:29Z</dcterms:modified>
</cp:coreProperties>
</file>